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98B4DE-36C4-426A-A868-83AC1393AC8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458002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8B4DE-36C4-426A-A868-83AC1393AC8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3609435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8B4DE-36C4-426A-A868-83AC1393AC8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759252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98B4DE-36C4-426A-A868-83AC1393AC8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1280241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98B4DE-36C4-426A-A868-83AC1393AC8A}" type="datetimeFigureOut">
              <a:rPr lang="en-IN" smtClean="0"/>
              <a:t>22-11-2025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77833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98B4DE-36C4-426A-A868-83AC1393AC8A}" type="datetimeFigureOut">
              <a:rPr lang="en-IN" smtClean="0"/>
              <a:t>22-11-2025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1156348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98B4DE-36C4-426A-A868-83AC1393AC8A}" type="datetimeFigureOut">
              <a:rPr lang="en-IN" smtClean="0"/>
              <a:t>22-11-2025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138867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98B4DE-36C4-426A-A868-83AC1393AC8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874435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98B4DE-36C4-426A-A868-83AC1393AC8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615487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8B4DE-36C4-426A-A868-83AC1393AC8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57120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8B4DE-36C4-426A-A868-83AC1393AC8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6B8F97-1E25-4277-903E-2048F5463032}" type="slidenum">
              <a:rPr lang="en-IN" smtClean="0"/>
              <a:t>‹#›</a:t>
            </a:fld>
            <a:endParaRPr lang="en-IN"/>
          </a:p>
        </p:txBody>
      </p:sp>
    </p:spTree>
    <p:extLst>
      <p:ext uri="{BB962C8B-B14F-4D97-AF65-F5344CB8AC3E}">
        <p14:creationId xmlns:p14="http://schemas.microsoft.com/office/powerpoint/2010/main" val="21424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8B4DE-36C4-426A-A868-83AC1393AC8A}" type="datetimeFigureOut">
              <a:rPr lang="en-IN" smtClean="0"/>
              <a:t>22-11-2025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6B8F97-1E25-4277-903E-2048F5463032}" type="slidenum">
              <a:rPr lang="en-IN" smtClean="0"/>
              <a:t>‹#›</a:t>
            </a:fld>
            <a:endParaRPr lang="en-IN"/>
          </a:p>
        </p:txBody>
      </p:sp>
    </p:spTree>
    <p:extLst>
      <p:ext uri="{BB962C8B-B14F-4D97-AF65-F5344CB8AC3E}">
        <p14:creationId xmlns:p14="http://schemas.microsoft.com/office/powerpoint/2010/main" val="31623854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EFFDA-8C0D-412A-657C-4F9F2165670D}"/>
              </a:ext>
            </a:extLst>
          </p:cNvPr>
          <p:cNvSpPr>
            <a:spLocks noGrp="1"/>
          </p:cNvSpPr>
          <p:nvPr>
            <p:ph type="ctrTitle"/>
          </p:nvPr>
        </p:nvSpPr>
        <p:spPr>
          <a:xfrm>
            <a:off x="1524000" y="960999"/>
            <a:ext cx="9144000" cy="2387600"/>
          </a:xfrm>
        </p:spPr>
        <p:style>
          <a:lnRef idx="1">
            <a:schemeClr val="accent2"/>
          </a:lnRef>
          <a:fillRef idx="2">
            <a:schemeClr val="accent2"/>
          </a:fillRef>
          <a:effectRef idx="1">
            <a:schemeClr val="accent2"/>
          </a:effectRef>
          <a:fontRef idx="minor">
            <a:schemeClr val="dk1"/>
          </a:fontRef>
        </p:style>
        <p:txBody>
          <a:bodyPr/>
          <a:lstStyle/>
          <a:p>
            <a:r>
              <a:rPr lang="en-IN" dirty="0"/>
              <a:t>Customer Service Agent Buddy</a:t>
            </a:r>
          </a:p>
        </p:txBody>
      </p:sp>
      <p:sp>
        <p:nvSpPr>
          <p:cNvPr id="3" name="Subtitle 2">
            <a:extLst>
              <a:ext uri="{FF2B5EF4-FFF2-40B4-BE49-F238E27FC236}">
                <a16:creationId xmlns:a16="http://schemas.microsoft.com/office/drawing/2014/main" id="{C19E90B9-8F1F-FD86-EB05-98B60C5B49EE}"/>
              </a:ext>
            </a:extLst>
          </p:cNvPr>
          <p:cNvSpPr>
            <a:spLocks noGrp="1"/>
          </p:cNvSpPr>
          <p:nvPr>
            <p:ph type="subTitle" idx="1"/>
          </p:nvPr>
        </p:nvSpPr>
        <p:spPr>
          <a:xfrm>
            <a:off x="1524000" y="4543332"/>
            <a:ext cx="9144000" cy="1655762"/>
          </a:xfrm>
        </p:spPr>
        <p:style>
          <a:lnRef idx="1">
            <a:schemeClr val="accent3"/>
          </a:lnRef>
          <a:fillRef idx="2">
            <a:schemeClr val="accent3"/>
          </a:fillRef>
          <a:effectRef idx="1">
            <a:schemeClr val="accent3"/>
          </a:effectRef>
          <a:fontRef idx="minor">
            <a:schemeClr val="dk1"/>
          </a:fontRef>
        </p:style>
        <p:txBody>
          <a:bodyPr/>
          <a:lstStyle/>
          <a:p>
            <a:r>
              <a:rPr lang="en-IN" dirty="0"/>
              <a:t>Capstone Project</a:t>
            </a:r>
          </a:p>
          <a:p>
            <a:r>
              <a:rPr lang="en-IN" dirty="0"/>
              <a:t>Author: Suhas Sankolli</a:t>
            </a:r>
          </a:p>
          <a:p>
            <a:r>
              <a:rPr lang="en-IN" dirty="0"/>
              <a:t>Date: Nov 27 2025</a:t>
            </a:r>
          </a:p>
        </p:txBody>
      </p:sp>
    </p:spTree>
    <p:extLst>
      <p:ext uri="{BB962C8B-B14F-4D97-AF65-F5344CB8AC3E}">
        <p14:creationId xmlns:p14="http://schemas.microsoft.com/office/powerpoint/2010/main" val="1630513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DA0A-A92B-F312-D4E8-B6B388ECD602}"/>
              </a:ext>
            </a:extLst>
          </p:cNvPr>
          <p:cNvSpPr>
            <a:spLocks noGrp="1"/>
          </p:cNvSpPr>
          <p:nvPr>
            <p:ph type="title"/>
          </p:nvPr>
        </p:nvSpPr>
        <p:spPr>
          <a:xfrm>
            <a:off x="1028952" y="103704"/>
            <a:ext cx="10515600" cy="737533"/>
          </a:xfrm>
        </p:spPr>
        <p:txBody>
          <a:bodyPr/>
          <a:lstStyle/>
          <a:p>
            <a:pPr algn="ctr"/>
            <a:r>
              <a:rPr lang="en-IN" dirty="0">
                <a:solidFill>
                  <a:srgbClr val="FF0000"/>
                </a:solidFill>
              </a:rPr>
              <a:t>Customer Service Agent Buddy </a:t>
            </a:r>
          </a:p>
        </p:txBody>
      </p:sp>
      <p:sp>
        <p:nvSpPr>
          <p:cNvPr id="3" name="TextBox 2">
            <a:extLst>
              <a:ext uri="{FF2B5EF4-FFF2-40B4-BE49-F238E27FC236}">
                <a16:creationId xmlns:a16="http://schemas.microsoft.com/office/drawing/2014/main" id="{422771DF-8A45-99B5-1880-48A67E19F847}"/>
              </a:ext>
            </a:extLst>
          </p:cNvPr>
          <p:cNvSpPr txBox="1"/>
          <p:nvPr/>
        </p:nvSpPr>
        <p:spPr>
          <a:xfrm>
            <a:off x="325700" y="941473"/>
            <a:ext cx="11286565"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This agentic solution provides an AI-driven 360° customer view through a natural-language Virtual Assistant, enabling service agents to access the latest customer insights instantly and resolve inquiries faster. It also empowers customers to directly obtain personalized information through conversational interactions, improving operational efficiency, reducing handling times, and elevating overall customer experience.</a:t>
            </a:r>
            <a:endParaRPr lang="en-IN" dirty="0"/>
          </a:p>
        </p:txBody>
      </p:sp>
      <p:pic>
        <p:nvPicPr>
          <p:cNvPr id="6" name="Graphic 5" descr="Male profile">
            <a:extLst>
              <a:ext uri="{FF2B5EF4-FFF2-40B4-BE49-F238E27FC236}">
                <a16:creationId xmlns:a16="http://schemas.microsoft.com/office/drawing/2014/main" id="{AD9ABC26-C507-A688-FB5B-BCE40BC9EB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10551" y="2664568"/>
            <a:ext cx="582706" cy="582706"/>
          </a:xfrm>
          <a:prstGeom prst="rect">
            <a:avLst/>
          </a:prstGeom>
        </p:spPr>
      </p:pic>
      <p:pic>
        <p:nvPicPr>
          <p:cNvPr id="8" name="Graphic 7" descr="Person eating">
            <a:extLst>
              <a:ext uri="{FF2B5EF4-FFF2-40B4-BE49-F238E27FC236}">
                <a16:creationId xmlns:a16="http://schemas.microsoft.com/office/drawing/2014/main" id="{598F8860-4039-B6C0-4DCA-CF188961D1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97479" y="2487825"/>
            <a:ext cx="914400" cy="914400"/>
          </a:xfrm>
          <a:prstGeom prst="rect">
            <a:avLst/>
          </a:prstGeom>
        </p:spPr>
      </p:pic>
      <p:sp>
        <p:nvSpPr>
          <p:cNvPr id="9" name="TextBox 8">
            <a:extLst>
              <a:ext uri="{FF2B5EF4-FFF2-40B4-BE49-F238E27FC236}">
                <a16:creationId xmlns:a16="http://schemas.microsoft.com/office/drawing/2014/main" id="{381B02D6-57B8-8108-1AFF-D10D8FFF886E}"/>
              </a:ext>
            </a:extLst>
          </p:cNvPr>
          <p:cNvSpPr txBox="1"/>
          <p:nvPr/>
        </p:nvSpPr>
        <p:spPr>
          <a:xfrm>
            <a:off x="1293158" y="3275267"/>
            <a:ext cx="829236" cy="253916"/>
          </a:xfrm>
          <a:prstGeom prst="rect">
            <a:avLst/>
          </a:prstGeom>
          <a:noFill/>
        </p:spPr>
        <p:txBody>
          <a:bodyPr wrap="square" rtlCol="0">
            <a:spAutoFit/>
          </a:bodyPr>
          <a:lstStyle/>
          <a:p>
            <a:r>
              <a:rPr lang="en-IN" sz="1050" b="1" dirty="0"/>
              <a:t>Customer</a:t>
            </a:r>
          </a:p>
        </p:txBody>
      </p:sp>
      <p:sp>
        <p:nvSpPr>
          <p:cNvPr id="10" name="TextBox 9">
            <a:extLst>
              <a:ext uri="{FF2B5EF4-FFF2-40B4-BE49-F238E27FC236}">
                <a16:creationId xmlns:a16="http://schemas.microsoft.com/office/drawing/2014/main" id="{C2DDA6F0-1B01-7100-296D-BB5C6B17C43F}"/>
              </a:ext>
            </a:extLst>
          </p:cNvPr>
          <p:cNvSpPr txBox="1"/>
          <p:nvPr/>
        </p:nvSpPr>
        <p:spPr>
          <a:xfrm>
            <a:off x="3124198" y="3380855"/>
            <a:ext cx="1591236" cy="253916"/>
          </a:xfrm>
          <a:prstGeom prst="rect">
            <a:avLst/>
          </a:prstGeom>
          <a:noFill/>
        </p:spPr>
        <p:txBody>
          <a:bodyPr wrap="square" rtlCol="0">
            <a:spAutoFit/>
          </a:bodyPr>
          <a:lstStyle/>
          <a:p>
            <a:r>
              <a:rPr lang="en-IN" sz="1050" b="1" dirty="0"/>
              <a:t>Customer Service </a:t>
            </a:r>
          </a:p>
        </p:txBody>
      </p:sp>
      <p:sp>
        <p:nvSpPr>
          <p:cNvPr id="11" name="Rectangle 10">
            <a:extLst>
              <a:ext uri="{FF2B5EF4-FFF2-40B4-BE49-F238E27FC236}">
                <a16:creationId xmlns:a16="http://schemas.microsoft.com/office/drawing/2014/main" id="{63C6234E-A6CC-07F9-E3AF-1FE8823C120F}"/>
              </a:ext>
            </a:extLst>
          </p:cNvPr>
          <p:cNvSpPr/>
          <p:nvPr/>
        </p:nvSpPr>
        <p:spPr>
          <a:xfrm>
            <a:off x="4715434" y="2494838"/>
            <a:ext cx="5136777" cy="393601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600" dirty="0">
                <a:solidFill>
                  <a:schemeClr val="tx1"/>
                </a:solidFill>
              </a:rPr>
              <a:t>Agentic Solution</a:t>
            </a:r>
          </a:p>
        </p:txBody>
      </p:sp>
      <p:sp>
        <p:nvSpPr>
          <p:cNvPr id="4" name="Rectangle: Rounded Corners 3">
            <a:extLst>
              <a:ext uri="{FF2B5EF4-FFF2-40B4-BE49-F238E27FC236}">
                <a16:creationId xmlns:a16="http://schemas.microsoft.com/office/drawing/2014/main" id="{03C1370F-4BEA-11DC-3341-AE29BC0E77A0}"/>
              </a:ext>
            </a:extLst>
          </p:cNvPr>
          <p:cNvSpPr/>
          <p:nvPr/>
        </p:nvSpPr>
        <p:spPr>
          <a:xfrm>
            <a:off x="6190128" y="2845562"/>
            <a:ext cx="1891553" cy="376185"/>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rPr>
              <a:t>Virtual Assistant</a:t>
            </a:r>
          </a:p>
        </p:txBody>
      </p:sp>
      <p:sp>
        <p:nvSpPr>
          <p:cNvPr id="12" name="Rectangle: Rounded Corners 11">
            <a:extLst>
              <a:ext uri="{FF2B5EF4-FFF2-40B4-BE49-F238E27FC236}">
                <a16:creationId xmlns:a16="http://schemas.microsoft.com/office/drawing/2014/main" id="{2A4865DF-9403-1A23-275A-C5B6E81815A4}"/>
              </a:ext>
            </a:extLst>
          </p:cNvPr>
          <p:cNvSpPr/>
          <p:nvPr/>
        </p:nvSpPr>
        <p:spPr>
          <a:xfrm>
            <a:off x="6199138" y="3663535"/>
            <a:ext cx="1891553" cy="376185"/>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rPr>
              <a:t>Orchestrator Agent</a:t>
            </a:r>
          </a:p>
        </p:txBody>
      </p:sp>
      <p:sp>
        <p:nvSpPr>
          <p:cNvPr id="13" name="Rectangle: Rounded Corners 12">
            <a:extLst>
              <a:ext uri="{FF2B5EF4-FFF2-40B4-BE49-F238E27FC236}">
                <a16:creationId xmlns:a16="http://schemas.microsoft.com/office/drawing/2014/main" id="{205D40BC-F09F-3D1A-5230-794B3CBD71CE}"/>
              </a:ext>
            </a:extLst>
          </p:cNvPr>
          <p:cNvSpPr/>
          <p:nvPr/>
        </p:nvSpPr>
        <p:spPr>
          <a:xfrm>
            <a:off x="6514709" y="4462846"/>
            <a:ext cx="1273857" cy="376185"/>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rPr>
              <a:t>Text To Cypher Agent</a:t>
            </a:r>
          </a:p>
        </p:txBody>
      </p:sp>
      <p:sp>
        <p:nvSpPr>
          <p:cNvPr id="14" name="Rectangle: Rounded Corners 13">
            <a:extLst>
              <a:ext uri="{FF2B5EF4-FFF2-40B4-BE49-F238E27FC236}">
                <a16:creationId xmlns:a16="http://schemas.microsoft.com/office/drawing/2014/main" id="{DA926CA7-B3CE-7E6D-5294-E2386A15C4F1}"/>
              </a:ext>
            </a:extLst>
          </p:cNvPr>
          <p:cNvSpPr/>
          <p:nvPr/>
        </p:nvSpPr>
        <p:spPr>
          <a:xfrm>
            <a:off x="4895049" y="4462846"/>
            <a:ext cx="1273857" cy="376185"/>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rPr>
              <a:t>Cohort Agent</a:t>
            </a:r>
          </a:p>
        </p:txBody>
      </p:sp>
      <p:sp>
        <p:nvSpPr>
          <p:cNvPr id="15" name="Rectangle: Rounded Corners 14">
            <a:extLst>
              <a:ext uri="{FF2B5EF4-FFF2-40B4-BE49-F238E27FC236}">
                <a16:creationId xmlns:a16="http://schemas.microsoft.com/office/drawing/2014/main" id="{8B63976B-AA12-51D7-C98B-8C5BCAF7DEDC}"/>
              </a:ext>
            </a:extLst>
          </p:cNvPr>
          <p:cNvSpPr/>
          <p:nvPr/>
        </p:nvSpPr>
        <p:spPr>
          <a:xfrm>
            <a:off x="8125018" y="4443890"/>
            <a:ext cx="1273857" cy="376185"/>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rPr>
              <a:t>Summarize Agent</a:t>
            </a:r>
          </a:p>
        </p:txBody>
      </p:sp>
      <p:pic>
        <p:nvPicPr>
          <p:cNvPr id="19" name="Graphic 18" descr="Database">
            <a:extLst>
              <a:ext uri="{FF2B5EF4-FFF2-40B4-BE49-F238E27FC236}">
                <a16:creationId xmlns:a16="http://schemas.microsoft.com/office/drawing/2014/main" id="{66E8DAF0-43A3-27FC-0E85-8F52421753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70755" y="5306588"/>
            <a:ext cx="761496" cy="761496"/>
          </a:xfrm>
          <a:prstGeom prst="rect">
            <a:avLst/>
          </a:prstGeom>
        </p:spPr>
      </p:pic>
      <p:sp>
        <p:nvSpPr>
          <p:cNvPr id="20" name="TextBox 19">
            <a:extLst>
              <a:ext uri="{FF2B5EF4-FFF2-40B4-BE49-F238E27FC236}">
                <a16:creationId xmlns:a16="http://schemas.microsoft.com/office/drawing/2014/main" id="{DC1E7E9D-B95B-E7BC-0531-A0CDAD84AF27}"/>
              </a:ext>
            </a:extLst>
          </p:cNvPr>
          <p:cNvSpPr txBox="1"/>
          <p:nvPr/>
        </p:nvSpPr>
        <p:spPr>
          <a:xfrm>
            <a:off x="6676076" y="6092866"/>
            <a:ext cx="795618" cy="253916"/>
          </a:xfrm>
          <a:prstGeom prst="rect">
            <a:avLst/>
          </a:prstGeom>
          <a:noFill/>
        </p:spPr>
        <p:txBody>
          <a:bodyPr wrap="square" rtlCol="0">
            <a:spAutoFit/>
          </a:bodyPr>
          <a:lstStyle/>
          <a:p>
            <a:r>
              <a:rPr lang="en-IN" sz="1050" b="1" dirty="0"/>
              <a:t>Graph DB</a:t>
            </a:r>
          </a:p>
        </p:txBody>
      </p:sp>
      <p:pic>
        <p:nvPicPr>
          <p:cNvPr id="23" name="Graphic 22" descr="Server">
            <a:extLst>
              <a:ext uri="{FF2B5EF4-FFF2-40B4-BE49-F238E27FC236}">
                <a16:creationId xmlns:a16="http://schemas.microsoft.com/office/drawing/2014/main" id="{15EC2205-5364-3BDC-E27B-B061B1E009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19992" y="5545102"/>
            <a:ext cx="488633" cy="488633"/>
          </a:xfrm>
          <a:prstGeom prst="rect">
            <a:avLst/>
          </a:prstGeom>
        </p:spPr>
      </p:pic>
      <p:sp>
        <p:nvSpPr>
          <p:cNvPr id="24" name="TextBox 23">
            <a:extLst>
              <a:ext uri="{FF2B5EF4-FFF2-40B4-BE49-F238E27FC236}">
                <a16:creationId xmlns:a16="http://schemas.microsoft.com/office/drawing/2014/main" id="{E1363B65-E094-892B-BD6B-17F2F7BEC670}"/>
              </a:ext>
            </a:extLst>
          </p:cNvPr>
          <p:cNvSpPr txBox="1"/>
          <p:nvPr/>
        </p:nvSpPr>
        <p:spPr>
          <a:xfrm>
            <a:off x="4766375" y="6105336"/>
            <a:ext cx="2072964" cy="253916"/>
          </a:xfrm>
          <a:prstGeom prst="rect">
            <a:avLst/>
          </a:prstGeom>
          <a:noFill/>
        </p:spPr>
        <p:txBody>
          <a:bodyPr wrap="square" rtlCol="0">
            <a:spAutoFit/>
          </a:bodyPr>
          <a:lstStyle/>
          <a:p>
            <a:r>
              <a:rPr lang="en-IN" sz="1050" b="1" dirty="0"/>
              <a:t>Customer profile, events data </a:t>
            </a:r>
          </a:p>
        </p:txBody>
      </p:sp>
      <p:cxnSp>
        <p:nvCxnSpPr>
          <p:cNvPr id="26" name="Straight Arrow Connector 25">
            <a:extLst>
              <a:ext uri="{FF2B5EF4-FFF2-40B4-BE49-F238E27FC236}">
                <a16:creationId xmlns:a16="http://schemas.microsoft.com/office/drawing/2014/main" id="{907A07FA-4E98-7E52-8F37-20C52F5E6E02}"/>
              </a:ext>
            </a:extLst>
          </p:cNvPr>
          <p:cNvCxnSpPr/>
          <p:nvPr/>
        </p:nvCxnSpPr>
        <p:spPr>
          <a:xfrm>
            <a:off x="5808625" y="5766318"/>
            <a:ext cx="103071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D4048ED-2A15-F3D3-1B79-A1E0BE8DEDAF}"/>
              </a:ext>
            </a:extLst>
          </p:cNvPr>
          <p:cNvSpPr/>
          <p:nvPr/>
        </p:nvSpPr>
        <p:spPr>
          <a:xfrm>
            <a:off x="6190128" y="5449078"/>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1</a:t>
            </a:r>
          </a:p>
        </p:txBody>
      </p:sp>
      <p:cxnSp>
        <p:nvCxnSpPr>
          <p:cNvPr id="28" name="Straight Arrow Connector 27">
            <a:extLst>
              <a:ext uri="{FF2B5EF4-FFF2-40B4-BE49-F238E27FC236}">
                <a16:creationId xmlns:a16="http://schemas.microsoft.com/office/drawing/2014/main" id="{F19D572E-6EFC-EC78-4B48-781F04EF4BBC}"/>
              </a:ext>
            </a:extLst>
          </p:cNvPr>
          <p:cNvCxnSpPr>
            <a:cxnSpLocks/>
            <a:stCxn id="6" idx="3"/>
            <a:endCxn id="8" idx="1"/>
          </p:cNvCxnSpPr>
          <p:nvPr/>
        </p:nvCxnSpPr>
        <p:spPr>
          <a:xfrm flipV="1">
            <a:off x="2093257" y="2945025"/>
            <a:ext cx="1204222" cy="10896"/>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F1586663-1018-749C-C65A-A8E84A95D4BC}"/>
              </a:ext>
            </a:extLst>
          </p:cNvPr>
          <p:cNvSpPr/>
          <p:nvPr/>
        </p:nvSpPr>
        <p:spPr>
          <a:xfrm>
            <a:off x="2581833" y="2637469"/>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2</a:t>
            </a:r>
          </a:p>
        </p:txBody>
      </p:sp>
      <p:cxnSp>
        <p:nvCxnSpPr>
          <p:cNvPr id="36" name="Connector: Elbow 35">
            <a:extLst>
              <a:ext uri="{FF2B5EF4-FFF2-40B4-BE49-F238E27FC236}">
                <a16:creationId xmlns:a16="http://schemas.microsoft.com/office/drawing/2014/main" id="{78DFDCEF-CDB8-E2C9-E1F2-85396046DD0C}"/>
              </a:ext>
            </a:extLst>
          </p:cNvPr>
          <p:cNvCxnSpPr>
            <a:cxnSpLocks/>
          </p:cNvCxnSpPr>
          <p:nvPr/>
        </p:nvCxnSpPr>
        <p:spPr>
          <a:xfrm>
            <a:off x="4211879" y="2968337"/>
            <a:ext cx="1978249" cy="1"/>
          </a:xfrm>
          <a:prstGeom prst="bentConnector3">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006D403-C265-DDBD-71A4-7184F18AB7D0}"/>
              </a:ext>
            </a:extLst>
          </p:cNvPr>
          <p:cNvCxnSpPr>
            <a:stCxn id="4" idx="2"/>
            <a:endCxn id="12" idx="0"/>
          </p:cNvCxnSpPr>
          <p:nvPr/>
        </p:nvCxnSpPr>
        <p:spPr>
          <a:xfrm>
            <a:off x="7135905" y="3221747"/>
            <a:ext cx="9010" cy="441788"/>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16C3FE1-26A9-6D6A-2F5C-C093A64CF127}"/>
              </a:ext>
            </a:extLst>
          </p:cNvPr>
          <p:cNvCxnSpPr>
            <a:cxnSpLocks/>
            <a:stCxn id="12" idx="2"/>
            <a:endCxn id="13" idx="0"/>
          </p:cNvCxnSpPr>
          <p:nvPr/>
        </p:nvCxnSpPr>
        <p:spPr>
          <a:xfrm>
            <a:off x="7144915" y="4039720"/>
            <a:ext cx="6723" cy="423126"/>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8FEC5F97-0AEA-91FA-CD09-387B5A4C8557}"/>
              </a:ext>
            </a:extLst>
          </p:cNvPr>
          <p:cNvCxnSpPr>
            <a:endCxn id="14" idx="0"/>
          </p:cNvCxnSpPr>
          <p:nvPr/>
        </p:nvCxnSpPr>
        <p:spPr>
          <a:xfrm rot="10800000" flipV="1">
            <a:off x="5531979" y="3851626"/>
            <a:ext cx="648819" cy="611219"/>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12967352-2594-5C31-47D9-1455F0691926}"/>
              </a:ext>
            </a:extLst>
          </p:cNvPr>
          <p:cNvCxnSpPr>
            <a:stCxn id="12" idx="3"/>
            <a:endCxn id="15" idx="0"/>
          </p:cNvCxnSpPr>
          <p:nvPr/>
        </p:nvCxnSpPr>
        <p:spPr>
          <a:xfrm>
            <a:off x="8090691" y="3851628"/>
            <a:ext cx="671256" cy="592262"/>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DE52859-27E6-FD14-4A8E-754E72D95030}"/>
              </a:ext>
            </a:extLst>
          </p:cNvPr>
          <p:cNvCxnSpPr>
            <a:cxnSpLocks/>
          </p:cNvCxnSpPr>
          <p:nvPr/>
        </p:nvCxnSpPr>
        <p:spPr>
          <a:xfrm flipV="1">
            <a:off x="7471694" y="3221747"/>
            <a:ext cx="0" cy="441788"/>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CC43C26-0ACE-CBF0-D0C8-1FDE38F89759}"/>
              </a:ext>
            </a:extLst>
          </p:cNvPr>
          <p:cNvCxnSpPr>
            <a:cxnSpLocks/>
            <a:stCxn id="14" idx="3"/>
            <a:endCxn id="13" idx="1"/>
          </p:cNvCxnSpPr>
          <p:nvPr/>
        </p:nvCxnSpPr>
        <p:spPr>
          <a:xfrm>
            <a:off x="6168906" y="4650939"/>
            <a:ext cx="345803"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7030D497-30EE-D5D9-6DDF-D9785F95E298}"/>
              </a:ext>
            </a:extLst>
          </p:cNvPr>
          <p:cNvCxnSpPr>
            <a:cxnSpLocks/>
          </p:cNvCxnSpPr>
          <p:nvPr/>
        </p:nvCxnSpPr>
        <p:spPr>
          <a:xfrm rot="5400000">
            <a:off x="6824304" y="4654706"/>
            <a:ext cx="1749699" cy="519727"/>
          </a:xfrm>
          <a:prstGeom prst="bentConnector3">
            <a:avLst>
              <a:gd name="adj1" fmla="val 99594"/>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0" name="Straight Arrow Connector 1029">
            <a:extLst>
              <a:ext uri="{FF2B5EF4-FFF2-40B4-BE49-F238E27FC236}">
                <a16:creationId xmlns:a16="http://schemas.microsoft.com/office/drawing/2014/main" id="{8BCB19B9-54AD-9E66-4DEE-00BDEDFBC63A}"/>
              </a:ext>
            </a:extLst>
          </p:cNvPr>
          <p:cNvCxnSpPr>
            <a:cxnSpLocks/>
            <a:stCxn id="13" idx="2"/>
            <a:endCxn id="19" idx="0"/>
          </p:cNvCxnSpPr>
          <p:nvPr/>
        </p:nvCxnSpPr>
        <p:spPr>
          <a:xfrm flipH="1">
            <a:off x="7151503" y="4839031"/>
            <a:ext cx="135" cy="467557"/>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033" name="Oval 1032">
            <a:extLst>
              <a:ext uri="{FF2B5EF4-FFF2-40B4-BE49-F238E27FC236}">
                <a16:creationId xmlns:a16="http://schemas.microsoft.com/office/drawing/2014/main" id="{320308D8-936B-C545-1181-7386D998B95F}"/>
              </a:ext>
            </a:extLst>
          </p:cNvPr>
          <p:cNvSpPr/>
          <p:nvPr/>
        </p:nvSpPr>
        <p:spPr>
          <a:xfrm>
            <a:off x="5259532" y="2714928"/>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3</a:t>
            </a:r>
          </a:p>
        </p:txBody>
      </p:sp>
      <p:sp>
        <p:nvSpPr>
          <p:cNvPr id="1034" name="Oval 1033">
            <a:extLst>
              <a:ext uri="{FF2B5EF4-FFF2-40B4-BE49-F238E27FC236}">
                <a16:creationId xmlns:a16="http://schemas.microsoft.com/office/drawing/2014/main" id="{2D1FC824-DD9D-4F3E-CD6D-F34B85AAB95F}"/>
              </a:ext>
            </a:extLst>
          </p:cNvPr>
          <p:cNvSpPr/>
          <p:nvPr/>
        </p:nvSpPr>
        <p:spPr>
          <a:xfrm>
            <a:off x="6875891" y="3343533"/>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4</a:t>
            </a:r>
          </a:p>
        </p:txBody>
      </p:sp>
      <p:sp>
        <p:nvSpPr>
          <p:cNvPr id="1035" name="Oval 1034">
            <a:extLst>
              <a:ext uri="{FF2B5EF4-FFF2-40B4-BE49-F238E27FC236}">
                <a16:creationId xmlns:a16="http://schemas.microsoft.com/office/drawing/2014/main" id="{0BAA64D4-59CF-4C6C-E6DD-055A8A653B03}"/>
              </a:ext>
            </a:extLst>
          </p:cNvPr>
          <p:cNvSpPr/>
          <p:nvPr/>
        </p:nvSpPr>
        <p:spPr>
          <a:xfrm>
            <a:off x="6909588" y="4121166"/>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5</a:t>
            </a:r>
          </a:p>
        </p:txBody>
      </p:sp>
      <p:sp>
        <p:nvSpPr>
          <p:cNvPr id="1036" name="Oval 1035">
            <a:extLst>
              <a:ext uri="{FF2B5EF4-FFF2-40B4-BE49-F238E27FC236}">
                <a16:creationId xmlns:a16="http://schemas.microsoft.com/office/drawing/2014/main" id="{EFBF1025-C8C0-E37B-5FCC-AF38562C4F53}"/>
              </a:ext>
            </a:extLst>
          </p:cNvPr>
          <p:cNvSpPr/>
          <p:nvPr/>
        </p:nvSpPr>
        <p:spPr>
          <a:xfrm>
            <a:off x="6912587" y="4943818"/>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6</a:t>
            </a:r>
          </a:p>
        </p:txBody>
      </p:sp>
      <p:sp>
        <p:nvSpPr>
          <p:cNvPr id="1037" name="Oval 1036">
            <a:extLst>
              <a:ext uri="{FF2B5EF4-FFF2-40B4-BE49-F238E27FC236}">
                <a16:creationId xmlns:a16="http://schemas.microsoft.com/office/drawing/2014/main" id="{580000D2-9CD0-D2A3-089C-064BF880002F}"/>
              </a:ext>
            </a:extLst>
          </p:cNvPr>
          <p:cNvSpPr/>
          <p:nvPr/>
        </p:nvSpPr>
        <p:spPr>
          <a:xfrm>
            <a:off x="5775734" y="3620733"/>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7</a:t>
            </a:r>
          </a:p>
        </p:txBody>
      </p:sp>
      <p:sp>
        <p:nvSpPr>
          <p:cNvPr id="1038" name="TextBox 1037">
            <a:extLst>
              <a:ext uri="{FF2B5EF4-FFF2-40B4-BE49-F238E27FC236}">
                <a16:creationId xmlns:a16="http://schemas.microsoft.com/office/drawing/2014/main" id="{1DC4E026-6FDE-5B8F-2E7A-9572FB803A5F}"/>
              </a:ext>
            </a:extLst>
          </p:cNvPr>
          <p:cNvSpPr txBox="1"/>
          <p:nvPr/>
        </p:nvSpPr>
        <p:spPr>
          <a:xfrm>
            <a:off x="7969999" y="5276049"/>
            <a:ext cx="772875" cy="415498"/>
          </a:xfrm>
          <a:prstGeom prst="rect">
            <a:avLst/>
          </a:prstGeom>
          <a:noFill/>
        </p:spPr>
        <p:txBody>
          <a:bodyPr wrap="square" rtlCol="0">
            <a:spAutoFit/>
          </a:bodyPr>
          <a:lstStyle/>
          <a:p>
            <a:r>
              <a:rPr lang="en-IN" sz="1050" b="1" dirty="0"/>
              <a:t>Session Data</a:t>
            </a:r>
          </a:p>
        </p:txBody>
      </p:sp>
      <p:sp>
        <p:nvSpPr>
          <p:cNvPr id="1041" name="Oval 1040">
            <a:extLst>
              <a:ext uri="{FF2B5EF4-FFF2-40B4-BE49-F238E27FC236}">
                <a16:creationId xmlns:a16="http://schemas.microsoft.com/office/drawing/2014/main" id="{2FD49BF2-0621-A433-5882-1E5F228B7FAE}"/>
              </a:ext>
            </a:extLst>
          </p:cNvPr>
          <p:cNvSpPr/>
          <p:nvPr/>
        </p:nvSpPr>
        <p:spPr>
          <a:xfrm>
            <a:off x="8874826" y="3944861"/>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8</a:t>
            </a:r>
          </a:p>
        </p:txBody>
      </p:sp>
      <p:sp>
        <p:nvSpPr>
          <p:cNvPr id="1042" name="Oval 1041">
            <a:extLst>
              <a:ext uri="{FF2B5EF4-FFF2-40B4-BE49-F238E27FC236}">
                <a16:creationId xmlns:a16="http://schemas.microsoft.com/office/drawing/2014/main" id="{34084000-615D-F4A1-B6DE-358DBE75421F}"/>
              </a:ext>
            </a:extLst>
          </p:cNvPr>
          <p:cNvSpPr/>
          <p:nvPr/>
        </p:nvSpPr>
        <p:spPr>
          <a:xfrm>
            <a:off x="7551845" y="3352747"/>
            <a:ext cx="193249" cy="1897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t>9</a:t>
            </a:r>
          </a:p>
        </p:txBody>
      </p:sp>
    </p:spTree>
    <p:extLst>
      <p:ext uri="{BB962C8B-B14F-4D97-AF65-F5344CB8AC3E}">
        <p14:creationId xmlns:p14="http://schemas.microsoft.com/office/powerpoint/2010/main" val="8526723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6893</TotalTime>
  <Words>112</Words>
  <Application>Microsoft Office PowerPoint</Application>
  <PresentationFormat>Widescreen</PresentationFormat>
  <Paragraphs>26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Customer Service Agent Buddy</vt:lpstr>
      <vt:lpstr>Customer Service Agent Buddy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suhas sankolli</dc:creator>
  <cp:lastModifiedBy>suhas sankolli</cp:lastModifiedBy>
  <cp:revision>5</cp:revision>
  <dcterms:created xsi:type="dcterms:W3CDTF">2025-11-23T00:25:04Z</dcterms:created>
  <dcterms:modified xsi:type="dcterms:W3CDTF">2025-11-27T21:55:44Z</dcterms:modified>
</cp:coreProperties>
</file>